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1B51E5-1F72-43EC-A09E-4ACC671ABE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686580-A5EB-4857-965B-C3E06DE1E8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16992-2726-478A-A779-F3DA5BFBBF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1A741D-02AD-4A42-AEB0-BAB66921F4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5302B4-E288-4152-8295-90A0B9037A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D09D8-9A72-4853-8546-E6B7D9EC5B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51AA8-7ADA-4E10-B10E-3ADC628BEF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82DE6B-C819-4970-A3B4-ABB9CE7204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074CC3-67DD-4B0A-B622-48C23CACFF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37769-CA79-4CFB-87D5-A8B5DCEB65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A43F80-22C6-4803-85C7-FB11F43E11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37F588-1F88-4FF2-90E4-FDC4152B13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4DCA60-C43F-40B9-A28F-781D3284BC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9.png"/><Relationship Id="rId10" Type="http://schemas.openxmlformats.org/officeDocument/2006/relationships/image" Target="../media/image12.png"/><Relationship Id="rId11" Type="http://schemas.openxmlformats.org/officeDocument/2006/relationships/image" Target="../media/image7.png"/><Relationship Id="rId12" Type="http://schemas.openxmlformats.org/officeDocument/2006/relationships/image" Target="../media/image1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5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1714680" y="804960"/>
            <a:ext cx="5714640" cy="3533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1714680" y="804960"/>
            <a:ext cx="56880" cy="3533040"/>
          </a:xfrm>
          <a:prstGeom prst="rect">
            <a:avLst/>
          </a:prstGeom>
          <a:solidFill>
            <a:srgbClr val="19A7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143080" y="1233720"/>
            <a:ext cx="4857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AI FOR EVERYONE — MINI-PROJECT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2143080" y="1533960"/>
            <a:ext cx="4857480" cy="75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AI-Powered College FAQ Assistant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2143080" y="2873880"/>
            <a:ext cx="23212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PRESENTED BY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2143080" y="3031200"/>
            <a:ext cx="2321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Aman Raj Anand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679280" y="2873880"/>
            <a:ext cx="23212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DEPARTMENT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679280" y="3031200"/>
            <a:ext cx="23212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Information Technology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143080" y="3595320"/>
            <a:ext cx="23212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ENROLLMENT NO.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2143080" y="3752640"/>
            <a:ext cx="2321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26IT066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679280" y="3595320"/>
            <a:ext cx="23212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INSTITUTION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679280" y="3752640"/>
            <a:ext cx="2321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A. D. PATEL INSTITUTE OF TECHNOLOGY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Project Overview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285840" y="846360"/>
            <a:ext cx="4142880" cy="18979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64400" y="1025280"/>
            <a:ext cx="37857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OBJECTIVE &amp; PROBLEM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464400" y="1250280"/>
            <a:ext cx="3785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Develop a conceptual AI assistant to help students quickly find answers to routine college FAQs, reducing the time spent searching multiple sources.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285840" y="2952000"/>
            <a:ext cx="4142880" cy="19051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464400" y="3137760"/>
            <a:ext cx="37857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PROPOSED AI SOLUTION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464400" y="3362760"/>
            <a:ext cx="3785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An AI-assisted FAQ system that organizes common queries, generates clear answers, and directs students to official sources for verification.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4714920" y="846360"/>
            <a:ext cx="4142880" cy="18979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893480" y="1025280"/>
            <a:ext cx="37857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AI TOOLS INVOLVED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893480" y="1250280"/>
            <a:ext cx="3785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ChatGPT:</a:t>
            </a: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 FAQ generation &amp; refinement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893480" y="1492920"/>
            <a:ext cx="3785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Google Gemini:</a:t>
            </a: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 Alternative response generation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893480" y="1735920"/>
            <a:ext cx="3785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Microsoft Copilot:</a:t>
            </a: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 Information structuring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4714920" y="2952000"/>
            <a:ext cx="4142880" cy="19051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4893480" y="1250280"/>
            <a:ext cx="60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4893480" y="1492920"/>
            <a:ext cx="60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4893480" y="1735920"/>
            <a:ext cx="60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4893480" y="3137760"/>
            <a:ext cx="37857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EXPECTED OUTCOME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4893480" y="3362760"/>
            <a:ext cx="3785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Structured FAQ database for student support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4893480" y="3605760"/>
            <a:ext cx="3785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Demonstration of prompt engineering principles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4893480" y="3848760"/>
            <a:ext cx="3785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Evaluation of AI consistency in academic contexts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4893480" y="3362760"/>
            <a:ext cx="60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4893480" y="3605760"/>
            <a:ext cx="60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4893480" y="3848760"/>
            <a:ext cx="60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Problem Identification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285840" y="846360"/>
            <a:ext cx="642888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Students face significant challenges when searching for routine college information, leading to wasted time and confusion.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285840" y="1603800"/>
            <a:ext cx="2714400" cy="325368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500040" y="1818000"/>
            <a:ext cx="356760" cy="3567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1" descr="preencoded.png"/>
          <p:cNvPicPr/>
          <p:nvPr/>
        </p:nvPicPr>
        <p:blipFill>
          <a:blip r:embed="rId2"/>
          <a:stretch/>
        </p:blipFill>
        <p:spPr>
          <a:xfrm>
            <a:off x="592920" y="191088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4"/>
          <p:cNvSpPr/>
          <p:nvPr/>
        </p:nvSpPr>
        <p:spPr>
          <a:xfrm>
            <a:off x="500040" y="2318040"/>
            <a:ext cx="22856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Information Fragmentation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500040" y="2635920"/>
            <a:ext cx="228564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Crucial details are scattered across physical notice boards, official websites, emails, and messaging groups, requiring excessive search time.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3214800" y="1603800"/>
            <a:ext cx="2714400" cy="325368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3429000" y="1818000"/>
            <a:ext cx="356760" cy="3567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2" descr="preencoded.png"/>
          <p:cNvPicPr/>
          <p:nvPr/>
        </p:nvPicPr>
        <p:blipFill>
          <a:blip r:embed="rId3"/>
          <a:stretch/>
        </p:blipFill>
        <p:spPr>
          <a:xfrm>
            <a:off x="3521880" y="191088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8"/>
          <p:cNvSpPr/>
          <p:nvPr/>
        </p:nvSpPr>
        <p:spPr>
          <a:xfrm>
            <a:off x="3429000" y="2318040"/>
            <a:ext cx="22856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Outdated Content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3429000" y="2635920"/>
            <a:ext cx="228564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Risk of students relying on obsolete examination schedules or fee structures due to a lack of a centralized, easily accessible knowledge base.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6143760" y="1603800"/>
            <a:ext cx="2714400" cy="325368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6357960" y="1818000"/>
            <a:ext cx="356760" cy="3567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3" descr="preencoded.png"/>
          <p:cNvPicPr/>
          <p:nvPr/>
        </p:nvPicPr>
        <p:blipFill>
          <a:blip r:embed="rId4"/>
          <a:stretch/>
        </p:blipFill>
        <p:spPr>
          <a:xfrm>
            <a:off x="6429240" y="191088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2"/>
          <p:cNvSpPr/>
          <p:nvPr/>
        </p:nvSpPr>
        <p:spPr>
          <a:xfrm>
            <a:off x="6357960" y="2318040"/>
            <a:ext cx="22856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Repetitive Inquiries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6357960" y="263592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College administration often handles hundreds of identical routine queries, which could be efficiently automated through an AI FAQ system.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Proposed Solution &amp; Workflow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285840" y="1830960"/>
            <a:ext cx="1160640" cy="83916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779040" y="200592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2"/>
          <p:cNvSpPr/>
          <p:nvPr/>
        </p:nvSpPr>
        <p:spPr>
          <a:xfrm>
            <a:off x="428760" y="2270160"/>
            <a:ext cx="8715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STUDENT QUESTION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3"/>
          <a:stretch/>
        </p:blipFill>
        <p:spPr>
          <a:xfrm>
            <a:off x="1550520" y="2165040"/>
            <a:ext cx="10692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3"/>
          <p:cNvSpPr/>
          <p:nvPr/>
        </p:nvSpPr>
        <p:spPr>
          <a:xfrm>
            <a:off x="1765080" y="1891800"/>
            <a:ext cx="1161000" cy="71748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preencoded.png"/>
          <p:cNvPicPr/>
          <p:nvPr/>
        </p:nvPicPr>
        <p:blipFill>
          <a:blip r:embed="rId4"/>
          <a:stretch/>
        </p:blipFill>
        <p:spPr>
          <a:xfrm>
            <a:off x="2269800" y="2066760"/>
            <a:ext cx="1497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4"/>
          <p:cNvSpPr/>
          <p:nvPr/>
        </p:nvSpPr>
        <p:spPr>
          <a:xfrm>
            <a:off x="1908720" y="2331000"/>
            <a:ext cx="8722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INPUT DATA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4" descr="preencoded.png"/>
          <p:cNvPicPr/>
          <p:nvPr/>
        </p:nvPicPr>
        <p:blipFill>
          <a:blip r:embed="rId5"/>
          <a:stretch/>
        </p:blipFill>
        <p:spPr>
          <a:xfrm>
            <a:off x="3031200" y="2165040"/>
            <a:ext cx="10692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Shape 5"/>
          <p:cNvSpPr/>
          <p:nvPr/>
        </p:nvSpPr>
        <p:spPr>
          <a:xfrm>
            <a:off x="3245400" y="1891800"/>
            <a:ext cx="1161720" cy="717480"/>
          </a:xfrm>
          <a:prstGeom prst="rect">
            <a:avLst/>
          </a:prstGeom>
          <a:solidFill>
            <a:srgbClr val="FFFFFF"/>
          </a:solidFill>
          <a:ln w="18288">
            <a:solidFill>
              <a:srgbClr val="19A7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5" descr="preencoded.png"/>
          <p:cNvPicPr/>
          <p:nvPr/>
        </p:nvPicPr>
        <p:blipFill>
          <a:blip r:embed="rId6"/>
          <a:stretch/>
        </p:blipFill>
        <p:spPr>
          <a:xfrm>
            <a:off x="3719160" y="206676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6"/>
          <p:cNvSpPr/>
          <p:nvPr/>
        </p:nvSpPr>
        <p:spPr>
          <a:xfrm>
            <a:off x="3389760" y="2331000"/>
            <a:ext cx="8730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AI PROCESSING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6" descr="preencoded.png"/>
          <p:cNvPicPr/>
          <p:nvPr/>
        </p:nvPicPr>
        <p:blipFill>
          <a:blip r:embed="rId7"/>
          <a:stretch/>
        </p:blipFill>
        <p:spPr>
          <a:xfrm>
            <a:off x="4512960" y="2165040"/>
            <a:ext cx="10692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Shape 7"/>
          <p:cNvSpPr/>
          <p:nvPr/>
        </p:nvSpPr>
        <p:spPr>
          <a:xfrm>
            <a:off x="4727160" y="1891800"/>
            <a:ext cx="1162440" cy="717480"/>
          </a:xfrm>
          <a:prstGeom prst="rect">
            <a:avLst/>
          </a:prstGeom>
          <a:solidFill>
            <a:srgbClr val="FFFFFF"/>
          </a:solidFill>
          <a:ln w="18288">
            <a:solidFill>
              <a:srgbClr val="0B2447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7" descr="preencoded.png"/>
          <p:cNvPicPr/>
          <p:nvPr/>
        </p:nvPicPr>
        <p:blipFill>
          <a:blip r:embed="rId8"/>
          <a:stretch/>
        </p:blipFill>
        <p:spPr>
          <a:xfrm>
            <a:off x="5202000" y="206676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8"/>
          <p:cNvSpPr/>
          <p:nvPr/>
        </p:nvSpPr>
        <p:spPr>
          <a:xfrm>
            <a:off x="4871880" y="2331000"/>
            <a:ext cx="8733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VERIFICATION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8" descr="preencoded.png"/>
          <p:cNvPicPr/>
          <p:nvPr/>
        </p:nvPicPr>
        <p:blipFill>
          <a:blip r:embed="rId9"/>
          <a:stretch/>
        </p:blipFill>
        <p:spPr>
          <a:xfrm>
            <a:off x="5995800" y="2165040"/>
            <a:ext cx="10692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Shape 9"/>
          <p:cNvSpPr/>
          <p:nvPr/>
        </p:nvSpPr>
        <p:spPr>
          <a:xfrm>
            <a:off x="6210360" y="1891800"/>
            <a:ext cx="1162800" cy="71748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9" descr="preencoded.png"/>
          <p:cNvPicPr/>
          <p:nvPr/>
        </p:nvPicPr>
        <p:blipFill>
          <a:blip r:embed="rId10"/>
          <a:stretch/>
        </p:blipFill>
        <p:spPr>
          <a:xfrm>
            <a:off x="6707160" y="206676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10"/>
          <p:cNvSpPr/>
          <p:nvPr/>
        </p:nvSpPr>
        <p:spPr>
          <a:xfrm>
            <a:off x="6355440" y="2331000"/>
            <a:ext cx="8740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USER RESPONSE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10" descr="preencoded.png"/>
          <p:cNvPicPr/>
          <p:nvPr/>
        </p:nvPicPr>
        <p:blipFill>
          <a:blip r:embed="rId11"/>
          <a:stretch/>
        </p:blipFill>
        <p:spPr>
          <a:xfrm>
            <a:off x="7480080" y="2165040"/>
            <a:ext cx="10692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Shape 11"/>
          <p:cNvSpPr/>
          <p:nvPr/>
        </p:nvSpPr>
        <p:spPr>
          <a:xfrm>
            <a:off x="7694280" y="1891800"/>
            <a:ext cx="1163520" cy="71748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11" descr="preencoded.png"/>
          <p:cNvPicPr/>
          <p:nvPr/>
        </p:nvPicPr>
        <p:blipFill>
          <a:blip r:embed="rId12"/>
          <a:stretch/>
        </p:blipFill>
        <p:spPr>
          <a:xfrm>
            <a:off x="8192160" y="206676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2"/>
          <p:cNvSpPr/>
          <p:nvPr/>
        </p:nvSpPr>
        <p:spPr>
          <a:xfrm>
            <a:off x="7840440" y="2331000"/>
            <a:ext cx="8748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ESCALATION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1000080" y="2941920"/>
            <a:ext cx="7143480" cy="105984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1214280" y="3163320"/>
            <a:ext cx="671472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The workflow ensures that while AI provides </a:t>
            </a: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Inter Bold"/>
                <a:ea typeface="Inter Bold"/>
              </a:rPr>
              <a:t>speed</a:t>
            </a: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and </a:t>
            </a: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Inter Bold"/>
                <a:ea typeface="Inter Bold"/>
              </a:rPr>
              <a:t>clarity</a:t>
            </a: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, human oversight maintains </a:t>
            </a: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Inter Bold"/>
                <a:ea typeface="Inter Bold"/>
              </a:rPr>
              <a:t>accuracy</a:t>
            </a: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. All AI-generated responses are derived from verified input data and must be cross-checked against official college sources before being considered final.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Objectives &amp; Scope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285840" y="846360"/>
            <a:ext cx="41428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2744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Project Objectives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285840" y="1285920"/>
            <a:ext cx="4142880" cy="8125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1" descr="preencoded.png"/>
          <p:cNvPicPr/>
          <p:nvPr/>
        </p:nvPicPr>
        <p:blipFill>
          <a:blip r:embed="rId2"/>
          <a:stretch/>
        </p:blipFill>
        <p:spPr>
          <a:xfrm>
            <a:off x="428760" y="1450080"/>
            <a:ext cx="853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3"/>
          <p:cNvSpPr/>
          <p:nvPr/>
        </p:nvSpPr>
        <p:spPr>
          <a:xfrm>
            <a:off x="621360" y="1428840"/>
            <a:ext cx="36644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Efficiency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621360" y="1621800"/>
            <a:ext cx="366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Provide instant responses to routine student queries, minimizing search effort.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285840" y="2191680"/>
            <a:ext cx="4142880" cy="8125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2" descr="preencoded.png"/>
          <p:cNvPicPr/>
          <p:nvPr/>
        </p:nvPicPr>
        <p:blipFill>
          <a:blip r:embed="rId3"/>
          <a:stretch/>
        </p:blipFill>
        <p:spPr>
          <a:xfrm>
            <a:off x="428760" y="235584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6"/>
          <p:cNvSpPr/>
          <p:nvPr/>
        </p:nvSpPr>
        <p:spPr>
          <a:xfrm>
            <a:off x="650160" y="2334600"/>
            <a:ext cx="3635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Consistency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650160" y="2527560"/>
            <a:ext cx="363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Ensure uniform information delivery across various student departments.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285840" y="3097440"/>
            <a:ext cx="4142880" cy="8125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3" descr="preencoded.png"/>
          <p:cNvPicPr/>
          <p:nvPr/>
        </p:nvPicPr>
        <p:blipFill>
          <a:blip r:embed="rId4"/>
          <a:stretch/>
        </p:blipFill>
        <p:spPr>
          <a:xfrm>
            <a:off x="428760" y="3261960"/>
            <a:ext cx="12816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9"/>
          <p:cNvSpPr/>
          <p:nvPr/>
        </p:nvSpPr>
        <p:spPr>
          <a:xfrm>
            <a:off x="664200" y="3240360"/>
            <a:ext cx="3621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Organization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664200" y="3433320"/>
            <a:ext cx="362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Transform fragmented documents into a structured, searchable FAQ dataset.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4714920" y="846360"/>
            <a:ext cx="41428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2744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Prototype Boundaries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4714920" y="1285920"/>
            <a:ext cx="4142880" cy="8125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4" descr="preencoded.png"/>
          <p:cNvPicPr/>
          <p:nvPr/>
        </p:nvPicPr>
        <p:blipFill>
          <a:blip r:embed="rId5"/>
          <a:stretch/>
        </p:blipFill>
        <p:spPr>
          <a:xfrm>
            <a:off x="4857840" y="145008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3"/>
          <p:cNvSpPr/>
          <p:nvPr/>
        </p:nvSpPr>
        <p:spPr>
          <a:xfrm>
            <a:off x="5079240" y="1428840"/>
            <a:ext cx="3635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Conceptual Stage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079240" y="1621800"/>
            <a:ext cx="363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This project is a functional prototype demonstration, not a deployed application.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5"/>
          <p:cNvSpPr/>
          <p:nvPr/>
        </p:nvSpPr>
        <p:spPr>
          <a:xfrm>
            <a:off x="4714920" y="2191680"/>
            <a:ext cx="4142880" cy="8125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5" descr="preencoded.png"/>
          <p:cNvPicPr/>
          <p:nvPr/>
        </p:nvPicPr>
        <p:blipFill>
          <a:blip r:embed="rId6"/>
          <a:stretch/>
        </p:blipFill>
        <p:spPr>
          <a:xfrm>
            <a:off x="4857840" y="235584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6"/>
          <p:cNvSpPr/>
          <p:nvPr/>
        </p:nvSpPr>
        <p:spPr>
          <a:xfrm>
            <a:off x="5079240" y="2334600"/>
            <a:ext cx="3635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Factual Limitations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5079240" y="2527560"/>
            <a:ext cx="363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Does not substitute official college notices or personalized administrative advice.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8"/>
          <p:cNvSpPr/>
          <p:nvPr/>
        </p:nvSpPr>
        <p:spPr>
          <a:xfrm>
            <a:off x="4714920" y="3097440"/>
            <a:ext cx="4142880" cy="8125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6" descr="preencoded.png"/>
          <p:cNvPicPr/>
          <p:nvPr/>
        </p:nvPicPr>
        <p:blipFill>
          <a:blip r:embed="rId7"/>
          <a:stretch/>
        </p:blipFill>
        <p:spPr>
          <a:xfrm>
            <a:off x="4857840" y="32619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9"/>
          <p:cNvSpPr/>
          <p:nvPr/>
        </p:nvSpPr>
        <p:spPr>
          <a:xfrm>
            <a:off x="5079240" y="3240360"/>
            <a:ext cx="3635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293B"/>
                </a:solidFill>
                <a:effectLst/>
                <a:uFillTx/>
                <a:latin typeface="Inter Bold"/>
                <a:ea typeface="Inter Bold"/>
              </a:rPr>
              <a:t>Future Scope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5079240" y="3433320"/>
            <a:ext cx="363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Potential for web integration as a verified chatbot with live backend data.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AI Tools &amp; Their Roles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285840" y="846360"/>
            <a:ext cx="8572320" cy="289656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285840" y="846360"/>
            <a:ext cx="1714320" cy="42480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285840" y="846360"/>
            <a:ext cx="1714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1560" rIns="169920" bIns="615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AI TOOL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000160" y="846360"/>
            <a:ext cx="2142720" cy="42480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2000160" y="846360"/>
            <a:ext cx="2142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1560" rIns="169920" bIns="615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PRIMARY TASK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4143240" y="846360"/>
            <a:ext cx="2142720" cy="42480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4143240" y="846360"/>
            <a:ext cx="2142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1560" rIns="169920" bIns="615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INPUT PROVIDED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6286680" y="846360"/>
            <a:ext cx="2571480" cy="42480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6286680" y="846360"/>
            <a:ext cx="2571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1560" rIns="169920" bIns="615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CONTRIBUTION &amp; CONTRIBUTION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1" descr="preencoded.png"/>
          <p:cNvPicPr/>
          <p:nvPr/>
        </p:nvPicPr>
        <p:blipFill>
          <a:blip r:embed="rId2"/>
          <a:stretch/>
        </p:blipFill>
        <p:spPr>
          <a:xfrm>
            <a:off x="428760" y="144288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0"/>
          <p:cNvSpPr/>
          <p:nvPr/>
        </p:nvSpPr>
        <p:spPr>
          <a:xfrm>
            <a:off x="600120" y="1414440"/>
            <a:ext cx="503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ChatGPT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2000160" y="1271520"/>
            <a:ext cx="2142720" cy="8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8120" rIns="169920" bIns="7812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Problem analysis &amp; FAQ generation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4143240" y="1271520"/>
            <a:ext cx="2142720" cy="8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155880" rIns="169920" bIns="15588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College policy summaries &amp; student personas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6429240" y="1428840"/>
            <a:ext cx="2032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Drafted comprehensive Q&amp;A sets and refined the assistant's personality.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6429240" y="1793160"/>
            <a:ext cx="2285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Requires verification of specific dates/fees.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285840" y="2089440"/>
            <a:ext cx="8572320" cy="8211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3"/>
          <a:stretch/>
        </p:blipFill>
        <p:spPr>
          <a:xfrm>
            <a:off x="428760" y="22611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600120" y="2232360"/>
            <a:ext cx="821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Google Gemini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2000160" y="2089440"/>
            <a:ext cx="2142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155880" rIns="169920" bIns="15588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Response comparison &amp; simplification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4143240" y="2089440"/>
            <a:ext cx="2142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8120" rIns="169920" bIns="7812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ChatGPT-generated outputs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6429240" y="2250360"/>
            <a:ext cx="227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Evaluated clarity and provided alternative, student-friendly phrasing.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6429240" y="2614680"/>
            <a:ext cx="2285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May generalize complex administrative rules.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3" descr="preencoded.png"/>
          <p:cNvPicPr/>
          <p:nvPr/>
        </p:nvPicPr>
        <p:blipFill>
          <a:blip r:embed="rId4"/>
          <a:stretch/>
        </p:blipFill>
        <p:spPr>
          <a:xfrm>
            <a:off x="428760" y="308268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1"/>
          <p:cNvSpPr/>
          <p:nvPr/>
        </p:nvSpPr>
        <p:spPr>
          <a:xfrm>
            <a:off x="600120" y="3053880"/>
            <a:ext cx="617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MS Copilot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2000160" y="2910960"/>
            <a:ext cx="2142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8120" rIns="169920" bIns="7812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Data structuring &amp; table creation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4143240" y="2910960"/>
            <a:ext cx="2142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8120" rIns="169920" bIns="7812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Raw Q&amp;A text strings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6429240" y="3071880"/>
            <a:ext cx="2139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Organized unstructured data into clean, manageable HTML/Excel-ready tables.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6429240" y="3436200"/>
            <a:ext cx="2285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Formatting may require manual adjustment.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Prompt Engineering &amp; Input Design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285840" y="775080"/>
            <a:ext cx="2499840" cy="408240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00040" y="989280"/>
            <a:ext cx="2071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FE3CF"/>
                </a:solidFill>
                <a:effectLst/>
                <a:uFillTx/>
                <a:latin typeface="Inter Bold"/>
                <a:ea typeface="Inter Bold"/>
              </a:rPr>
              <a:t>Key Principles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500040" y="1307160"/>
            <a:ext cx="207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Persona Adoption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500040" y="1528920"/>
            <a:ext cx="203904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Act as a professional student-support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500040" y="1700280"/>
            <a:ext cx="17571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assistant to ensure a helpful and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500040" y="1871640"/>
            <a:ext cx="64980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formal tone.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500040" y="2286000"/>
            <a:ext cx="207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Contextual Guardrails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500040" y="2507400"/>
            <a:ext cx="199260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Explicitly forbid the AI from inventing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500040" y="2678760"/>
            <a:ext cx="204264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facts or institutional data not provided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500040" y="2850480"/>
            <a:ext cx="7318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in the source.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500040" y="3264840"/>
            <a:ext cx="207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Output Structuring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500040" y="3486240"/>
            <a:ext cx="16642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Request specific formats (e.g.,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00040" y="3657600"/>
            <a:ext cx="178200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Markdown tables) to ensure data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500040" y="3828960"/>
            <a:ext cx="4816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usability.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3071880" y="775080"/>
            <a:ext cx="5785920" cy="127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3071880" y="775080"/>
            <a:ext cx="57859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8850960" y="775080"/>
            <a:ext cx="6840" cy="12711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3071880" y="2039400"/>
            <a:ext cx="57859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3071880" y="775080"/>
            <a:ext cx="28080" cy="1271160"/>
          </a:xfrm>
          <a:prstGeom prst="rect">
            <a:avLst/>
          </a:prstGeom>
          <a:solidFill>
            <a:srgbClr val="19A7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3250440" y="953640"/>
            <a:ext cx="54288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SAMPLE PROMPT 1: EXTRACTION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3250440" y="1146600"/>
            <a:ext cx="5428800" cy="51408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3250440" y="1146600"/>
            <a:ext cx="5428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127440" rIns="127440" bIns="12744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"Extract all information related to examination schedules and attendance rules from the provided text. Present it as a clear Q&amp;A list for new students."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3250440" y="1732320"/>
            <a:ext cx="54288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Focuses the AI on relevant academic data while filtering noise.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3071880" y="2175120"/>
            <a:ext cx="5785920" cy="127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3071880" y="2175120"/>
            <a:ext cx="57859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6"/>
          <p:cNvSpPr/>
          <p:nvPr/>
        </p:nvSpPr>
        <p:spPr>
          <a:xfrm>
            <a:off x="8850960" y="2175120"/>
            <a:ext cx="6840" cy="12711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3071880" y="3439800"/>
            <a:ext cx="57859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3071880" y="2175120"/>
            <a:ext cx="28080" cy="1271160"/>
          </a:xfrm>
          <a:prstGeom prst="rect">
            <a:avLst/>
          </a:prstGeom>
          <a:solidFill>
            <a:srgbClr val="19A7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9"/>
          <p:cNvSpPr/>
          <p:nvPr/>
        </p:nvSpPr>
        <p:spPr>
          <a:xfrm>
            <a:off x="3250440" y="2354040"/>
            <a:ext cx="54288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SAMPLE PROMPT 2: REFINEMENT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3250440" y="2546640"/>
            <a:ext cx="5428800" cy="51408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1"/>
          <p:cNvSpPr/>
          <p:nvPr/>
        </p:nvSpPr>
        <p:spPr>
          <a:xfrm>
            <a:off x="3250440" y="2546640"/>
            <a:ext cx="5428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127440" rIns="127440" bIns="12744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"Convert the following table into student-friendly language. If any specific date or amount is missing, say: Check the official notice."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2"/>
          <p:cNvSpPr/>
          <p:nvPr/>
        </p:nvSpPr>
        <p:spPr>
          <a:xfrm>
            <a:off x="3250440" y="3132360"/>
            <a:ext cx="54288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Ensures factual safety and improves accessibility for students.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Illustrative Output: FAQ Dataset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285840" y="775080"/>
            <a:ext cx="8572320" cy="30571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285840" y="775080"/>
            <a:ext cx="1285560" cy="342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285840" y="775080"/>
            <a:ext cx="1285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tIns="57960" rIns="169920" bIns="579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CATEGORY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1571760" y="775080"/>
            <a:ext cx="2999880" cy="342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571760" y="775080"/>
            <a:ext cx="2999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57960" rIns="169920" bIns="579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STUDENT QUESTION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4572000" y="775080"/>
            <a:ext cx="4285800" cy="342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4572000" y="775080"/>
            <a:ext cx="428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57960" rIns="169920" bIns="5796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AI-GENERATED RESPONSE (CONCEPTUAL)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428760" y="1296720"/>
            <a:ext cx="578160" cy="1767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428760" y="1296720"/>
            <a:ext cx="57816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tIns="34200" rIns="68040" bIns="3420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Academics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1571760" y="1118160"/>
            <a:ext cx="299988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3080" rIns="169920" bIns="7308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What is the minimum attendance required?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4714920" y="1232280"/>
            <a:ext cx="24213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Attendance requirements vary by institution.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4714920" y="1232280"/>
            <a:ext cx="37609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9A7CE"/>
                </a:solidFill>
                <a:effectLst/>
                <a:uFillTx/>
                <a:latin typeface="Inter Bold"/>
                <a:ea typeface="Inter Bold"/>
              </a:rPr>
              <a:t>Check the latest official department notice for the current rule.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285840" y="1656000"/>
            <a:ext cx="8572320" cy="5410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428760" y="1838160"/>
            <a:ext cx="685440" cy="1767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428760" y="1838160"/>
            <a:ext cx="68544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tIns="34200" rIns="68040" bIns="3420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Examinations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6"/>
          <p:cNvSpPr/>
          <p:nvPr/>
        </p:nvSpPr>
        <p:spPr>
          <a:xfrm>
            <a:off x="1571760" y="1656000"/>
            <a:ext cx="299988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3080" rIns="169920" bIns="7308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When will the mid-semester exams start?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4572000" y="1656000"/>
            <a:ext cx="428580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3080" rIns="169920" bIns="7308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Exam timing must be taken from the current semester's academic calendar.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428760" y="2379600"/>
            <a:ext cx="385560" cy="1767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428760" y="2379600"/>
            <a:ext cx="38556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tIns="34200" rIns="68040" bIns="3420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Hostel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571760" y="2197440"/>
            <a:ext cx="299988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3080" rIns="169920" bIns="7308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How do I apply for hostel accommodation?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1"/>
          <p:cNvSpPr/>
          <p:nvPr/>
        </p:nvSpPr>
        <p:spPr>
          <a:xfrm>
            <a:off x="4572000" y="2197440"/>
            <a:ext cx="428580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127440" rIns="169920" bIns="12744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Submit the hostel application through the designated college process; confirm seat availability with the hostel office.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285840" y="2738880"/>
            <a:ext cx="8572320" cy="5410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3"/>
          <p:cNvSpPr/>
          <p:nvPr/>
        </p:nvSpPr>
        <p:spPr>
          <a:xfrm>
            <a:off x="428760" y="2921040"/>
            <a:ext cx="306720" cy="1767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428760" y="2921040"/>
            <a:ext cx="3067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tIns="34200" rIns="68040" bIns="3420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Fees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5"/>
          <p:cNvSpPr/>
          <p:nvPr/>
        </p:nvSpPr>
        <p:spPr>
          <a:xfrm>
            <a:off x="1571760" y="2738880"/>
            <a:ext cx="299988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3080" rIns="169920" bIns="7308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Where can I pay the tuition fees?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6"/>
          <p:cNvSpPr/>
          <p:nvPr/>
        </p:nvSpPr>
        <p:spPr>
          <a:xfrm>
            <a:off x="4572000" y="2738880"/>
            <a:ext cx="428580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127440" rIns="169920" bIns="12744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Use the college portal or the approved payment process; verify the current amount with the accounts office.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7"/>
          <p:cNvSpPr/>
          <p:nvPr/>
        </p:nvSpPr>
        <p:spPr>
          <a:xfrm>
            <a:off x="428760" y="3462480"/>
            <a:ext cx="556920" cy="1767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8"/>
          <p:cNvSpPr/>
          <p:nvPr/>
        </p:nvSpPr>
        <p:spPr>
          <a:xfrm>
            <a:off x="428760" y="3462480"/>
            <a:ext cx="5569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tIns="34200" rIns="68040" bIns="34200" anchor="t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Admission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9"/>
          <p:cNvSpPr/>
          <p:nvPr/>
        </p:nvSpPr>
        <p:spPr>
          <a:xfrm>
            <a:off x="1571760" y="3280320"/>
            <a:ext cx="299988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3080" rIns="169920" bIns="7308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What documents are needed for verification?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0"/>
          <p:cNvSpPr/>
          <p:nvPr/>
        </p:nvSpPr>
        <p:spPr>
          <a:xfrm>
            <a:off x="4572000" y="3280320"/>
            <a:ext cx="428580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127440" rIns="169920" bIns="12744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Carry the documents listed in the official admission brochure and confirm the current checklist before verification.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Illustrative Tool Comparison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"/>
          <p:cNvSpPr/>
          <p:nvPr/>
        </p:nvSpPr>
        <p:spPr>
          <a:xfrm>
            <a:off x="285840" y="775080"/>
            <a:ext cx="8572320" cy="44244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285840" y="775080"/>
            <a:ext cx="857232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72720" rIns="169920" bIns="7272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FE3CF"/>
                </a:solidFill>
                <a:effectLst/>
                <a:uFillTx/>
                <a:latin typeface="Inter Bold"/>
                <a:ea typeface="Inter Bold"/>
              </a:rPr>
              <a:t>Sample Question:</a:t>
            </a: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 "What happens if I miss my exam due to a medical emergency?"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285840" y="1432440"/>
            <a:ext cx="4178880" cy="342504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285840" y="1432440"/>
            <a:ext cx="4178880" cy="3603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>
            <a:off x="285840" y="1785960"/>
            <a:ext cx="41788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1" descr="preencoded.png"/>
          <p:cNvPicPr/>
          <p:nvPr/>
        </p:nvPicPr>
        <p:blipFill>
          <a:blip r:embed="rId2"/>
          <a:stretch/>
        </p:blipFill>
        <p:spPr>
          <a:xfrm>
            <a:off x="428760" y="1551960"/>
            <a:ext cx="14256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6"/>
          <p:cNvSpPr/>
          <p:nvPr/>
        </p:nvSpPr>
        <p:spPr>
          <a:xfrm>
            <a:off x="642960" y="1539360"/>
            <a:ext cx="109620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ChatGPT-4o (Draft)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464400" y="1964520"/>
            <a:ext cx="3439440" cy="9140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464400" y="1964520"/>
            <a:ext cx="343944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3897000" y="1964520"/>
            <a:ext cx="6840" cy="9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464400" y="2871720"/>
            <a:ext cx="343944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464400" y="1964520"/>
            <a:ext cx="28080" cy="914040"/>
          </a:xfrm>
          <a:prstGeom prst="rect">
            <a:avLst/>
          </a:prstGeom>
          <a:solidFill>
            <a:srgbClr val="19A7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464400" y="1964520"/>
            <a:ext cx="3439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127440" rIns="127440" bIns="12744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If you miss an exam due to illness, you must submit a medical certificate from a registered practitioner to the Examination Cell within 3 days. A re-exam may be scheduled based on the Principal's approval.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285840" y="4393440"/>
            <a:ext cx="4178880" cy="4640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285840" y="4393440"/>
            <a:ext cx="41788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285840" y="4393440"/>
            <a:ext cx="41788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114840" rIns="127440" bIns="11484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Observation: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Detailed and structured, but assumes specific local procedures without verification.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6"/>
          <p:cNvSpPr/>
          <p:nvPr/>
        </p:nvSpPr>
        <p:spPr>
          <a:xfrm>
            <a:off x="4679280" y="1432440"/>
            <a:ext cx="4178880" cy="342504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4679280" y="1432440"/>
            <a:ext cx="4178880" cy="3603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4679280" y="1785960"/>
            <a:ext cx="41788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2" descr="preencoded.png"/>
          <p:cNvPicPr/>
          <p:nvPr/>
        </p:nvPicPr>
        <p:blipFill>
          <a:blip r:embed="rId3"/>
          <a:stretch/>
        </p:blipFill>
        <p:spPr>
          <a:xfrm>
            <a:off x="4822200" y="15519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19"/>
          <p:cNvSpPr/>
          <p:nvPr/>
        </p:nvSpPr>
        <p:spPr>
          <a:xfrm>
            <a:off x="5007600" y="1539360"/>
            <a:ext cx="171432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Google Gemini (Simplification)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4857840" y="1964520"/>
            <a:ext cx="3439440" cy="9140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4857840" y="1964520"/>
            <a:ext cx="343944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8290440" y="1964520"/>
            <a:ext cx="6840" cy="9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4857840" y="2871720"/>
            <a:ext cx="343944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4857840" y="1964520"/>
            <a:ext cx="28080" cy="914040"/>
          </a:xfrm>
          <a:prstGeom prst="rect">
            <a:avLst/>
          </a:prstGeom>
          <a:solidFill>
            <a:srgbClr val="19A7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4857840" y="1964520"/>
            <a:ext cx="3439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127440" rIns="127440" bIns="12744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In case of medical emergencies, please inform your department immediately. Submit your medical reports to the office. Refer to the official college rulebook for exact submission deadlines.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4679280" y="4393440"/>
            <a:ext cx="4178880" cy="4640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7"/>
          <p:cNvSpPr/>
          <p:nvPr/>
        </p:nvSpPr>
        <p:spPr>
          <a:xfrm>
            <a:off x="4679280" y="4393440"/>
            <a:ext cx="41788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8"/>
          <p:cNvSpPr/>
          <p:nvPr/>
        </p:nvSpPr>
        <p:spPr>
          <a:xfrm>
            <a:off x="4679280" y="4393440"/>
            <a:ext cx="41788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114840" rIns="127440" bIns="11484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Observation: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Safer response with explicit source placeholders, though slightly less detailed on specific steps.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Conceptual Prototype Demonstration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"/>
          <p:cNvSpPr/>
          <p:nvPr/>
        </p:nvSpPr>
        <p:spPr>
          <a:xfrm>
            <a:off x="285840" y="775080"/>
            <a:ext cx="5428800" cy="40824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285840" y="775080"/>
            <a:ext cx="5428800" cy="35316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428760" y="882360"/>
            <a:ext cx="11890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College FAQ Assistant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Image 1" descr="preencoded.png"/>
          <p:cNvPicPr/>
          <p:nvPr/>
        </p:nvPicPr>
        <p:blipFill>
          <a:blip r:embed="rId2"/>
          <a:stretch/>
        </p:blipFill>
        <p:spPr>
          <a:xfrm>
            <a:off x="5543640" y="894600"/>
            <a:ext cx="2808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Shape 4"/>
          <p:cNvSpPr/>
          <p:nvPr/>
        </p:nvSpPr>
        <p:spPr>
          <a:xfrm>
            <a:off x="3153960" y="1343160"/>
            <a:ext cx="2346480" cy="3531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3153960" y="1343160"/>
            <a:ext cx="234648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65160" rIns="127440" bIns="6516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How can I apply for an internship NOC?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500040" y="1839600"/>
            <a:ext cx="3125160" cy="849600"/>
          </a:xfrm>
          <a:prstGeom prst="rect">
            <a:avLst/>
          </a:prstGeom>
          <a:solidFill>
            <a:srgbClr val="19A7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500040" y="1853640"/>
            <a:ext cx="31251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To apply for an internship NOC (No Objection Certificate):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500040" y="2025360"/>
            <a:ext cx="25606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1. Obtain a letter from your internship company.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500040" y="2196720"/>
            <a:ext cx="30178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2. Submit the letter and a formal application to the HOD.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500040" y="2368080"/>
            <a:ext cx="258912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3. Once approved, the office will issue the NOC.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2" descr="preencoded.png"/>
          <p:cNvPicPr/>
          <p:nvPr/>
        </p:nvPicPr>
        <p:blipFill>
          <a:blip r:embed="rId3"/>
          <a:stretch/>
        </p:blipFill>
        <p:spPr>
          <a:xfrm>
            <a:off x="500040" y="2582640"/>
            <a:ext cx="85320" cy="8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11"/>
          <p:cNvSpPr/>
          <p:nvPr/>
        </p:nvSpPr>
        <p:spPr>
          <a:xfrm>
            <a:off x="621360" y="2561040"/>
            <a:ext cx="1749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Verified against Academic Handbook 2024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6000840" y="775080"/>
            <a:ext cx="2857320" cy="81036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6143760" y="918000"/>
            <a:ext cx="25714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1. INPUT CONTEXT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6143760" y="1128600"/>
            <a:ext cx="25714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The AI is supplied with the "Administrative Procedures" section of the student handbook.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6000840" y="1750320"/>
            <a:ext cx="2857320" cy="81036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6143760" y="1893240"/>
            <a:ext cx="25714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2. RESPONSE LOGIC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6143760" y="2103840"/>
            <a:ext cx="25714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AI extracts the multi-step process and re-formats it into a readable list for the student.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8"/>
          <p:cNvSpPr/>
          <p:nvPr/>
        </p:nvSpPr>
        <p:spPr>
          <a:xfrm>
            <a:off x="6000840" y="2725200"/>
            <a:ext cx="2857320" cy="81036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6143760" y="2868120"/>
            <a:ext cx="25714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3. VERIFICATION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6143760" y="3079080"/>
            <a:ext cx="25714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The "Verified" tag is only added when the output perfectly matches the source document.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Testing Plan &amp; Evaluation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"/>
          <p:cNvSpPr/>
          <p:nvPr/>
        </p:nvSpPr>
        <p:spPr>
          <a:xfrm>
            <a:off x="285840" y="775080"/>
            <a:ext cx="8572320" cy="232128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285840" y="775080"/>
            <a:ext cx="2142720" cy="45684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"/>
          <p:cNvSpPr/>
          <p:nvPr/>
        </p:nvSpPr>
        <p:spPr>
          <a:xfrm>
            <a:off x="285840" y="775080"/>
            <a:ext cx="214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54000" rIns="169920" bIns="5400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TEST QUESTION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"/>
          <p:cNvSpPr/>
          <p:nvPr/>
        </p:nvSpPr>
        <p:spPr>
          <a:xfrm>
            <a:off x="2428920" y="775080"/>
            <a:ext cx="2142720" cy="45684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2428920" y="775080"/>
            <a:ext cx="214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54000" rIns="169920" bIns="5400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EXPECTED INFORMATION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4572000" y="775080"/>
            <a:ext cx="1285560" cy="45684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"/>
          <p:cNvSpPr/>
          <p:nvPr/>
        </p:nvSpPr>
        <p:spPr>
          <a:xfrm>
            <a:off x="4572000" y="775080"/>
            <a:ext cx="128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tIns="54000" rIns="169920" bIns="5400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AI RESPONSE STATUS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8"/>
          <p:cNvSpPr/>
          <p:nvPr/>
        </p:nvSpPr>
        <p:spPr>
          <a:xfrm>
            <a:off x="5857920" y="775080"/>
            <a:ext cx="1285560" cy="45684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5857920" y="775080"/>
            <a:ext cx="128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tIns="54000" rIns="169920" bIns="5400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FACTUAL CORRECTNESS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7143840" y="775080"/>
            <a:ext cx="1714320" cy="45684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7143840" y="775080"/>
            <a:ext cx="171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54000" rIns="169920" bIns="5400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Inter Bold"/>
                <a:ea typeface="Inter Bold"/>
              </a:rPr>
              <a:t>ACTION REQUIRED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285840" y="1232280"/>
            <a:ext cx="2142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Fee payment deadline?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2428920" y="1232280"/>
            <a:ext cx="2142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Date from official notice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4"/>
          <p:cNvSpPr/>
          <p:nvPr/>
        </p:nvSpPr>
        <p:spPr>
          <a:xfrm>
            <a:off x="4572000" y="1232280"/>
            <a:ext cx="1285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5857920" y="1232280"/>
            <a:ext cx="1285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7143840" y="1232280"/>
            <a:ext cx="1714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Verify against receipt.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7"/>
          <p:cNvSpPr/>
          <p:nvPr/>
        </p:nvSpPr>
        <p:spPr>
          <a:xfrm>
            <a:off x="285840" y="1600200"/>
            <a:ext cx="8572320" cy="37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8"/>
          <p:cNvSpPr/>
          <p:nvPr/>
        </p:nvSpPr>
        <p:spPr>
          <a:xfrm>
            <a:off x="285840" y="160020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Hostel leave procedure?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2428920" y="160020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Gate pass rules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4572000" y="160020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5857920" y="160020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7143840" y="1600200"/>
            <a:ext cx="1714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Check warden's rules.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285840" y="197172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Backlog exam form link?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2428920" y="197172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Official portal URL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4572000" y="197172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6"/>
          <p:cNvSpPr/>
          <p:nvPr/>
        </p:nvSpPr>
        <p:spPr>
          <a:xfrm>
            <a:off x="5857920" y="197172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7143840" y="1971720"/>
            <a:ext cx="1714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Test URL validity.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8"/>
          <p:cNvSpPr/>
          <p:nvPr/>
        </p:nvSpPr>
        <p:spPr>
          <a:xfrm>
            <a:off x="285840" y="2343240"/>
            <a:ext cx="8572320" cy="37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285840" y="234324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Scholarship eligibility?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0"/>
          <p:cNvSpPr/>
          <p:nvPr/>
        </p:nvSpPr>
        <p:spPr>
          <a:xfrm>
            <a:off x="2428920" y="234324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Criteria list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4572000" y="234324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2"/>
          <p:cNvSpPr/>
          <p:nvPr/>
        </p:nvSpPr>
        <p:spPr>
          <a:xfrm>
            <a:off x="5857920" y="234324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3"/>
          <p:cNvSpPr/>
          <p:nvPr/>
        </p:nvSpPr>
        <p:spPr>
          <a:xfrm>
            <a:off x="7143840" y="2343240"/>
            <a:ext cx="1714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Cross-check with govt.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4"/>
          <p:cNvSpPr/>
          <p:nvPr/>
        </p:nvSpPr>
        <p:spPr>
          <a:xfrm>
            <a:off x="285840" y="271476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Library timings?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5"/>
          <p:cNvSpPr/>
          <p:nvPr/>
        </p:nvSpPr>
        <p:spPr>
          <a:xfrm>
            <a:off x="2428920" y="2714760"/>
            <a:ext cx="2142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Opening/Closing hours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6"/>
          <p:cNvSpPr/>
          <p:nvPr/>
        </p:nvSpPr>
        <p:spPr>
          <a:xfrm>
            <a:off x="4572000" y="271476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7"/>
          <p:cNvSpPr/>
          <p:nvPr/>
        </p:nvSpPr>
        <p:spPr>
          <a:xfrm>
            <a:off x="5857920" y="2714760"/>
            <a:ext cx="1285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Not tested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8"/>
          <p:cNvSpPr/>
          <p:nvPr/>
        </p:nvSpPr>
        <p:spPr>
          <a:xfrm>
            <a:off x="7143840" y="2714760"/>
            <a:ext cx="1714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68760" rIns="169920" bIns="68760" anchor="ctr">
            <a:sp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Confirm with librarian.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0"/>
          <p:cNvSpPr/>
          <p:nvPr/>
        </p:nvSpPr>
        <p:spPr>
          <a:xfrm>
            <a:off x="285840" y="285840"/>
            <a:ext cx="8572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Key Takeaways, Safety &amp; References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285840" y="846360"/>
            <a:ext cx="41428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LIMITATIONS &amp; SAFETY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1" descr="preencoded.png"/>
          <p:cNvPicPr/>
          <p:nvPr/>
        </p:nvPicPr>
        <p:blipFill>
          <a:blip r:embed="rId2"/>
          <a:stretch/>
        </p:blipFill>
        <p:spPr>
          <a:xfrm>
            <a:off x="285840" y="113220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2"/>
          <p:cNvSpPr/>
          <p:nvPr/>
        </p:nvSpPr>
        <p:spPr>
          <a:xfrm>
            <a:off x="507240" y="1110960"/>
            <a:ext cx="25142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Risk of AI hallucinations in specific dates.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2" descr="preencoded.png"/>
          <p:cNvPicPr/>
          <p:nvPr/>
        </p:nvPicPr>
        <p:blipFill>
          <a:blip r:embed="rId3"/>
          <a:stretch/>
        </p:blipFill>
        <p:spPr>
          <a:xfrm>
            <a:off x="285840" y="137520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3"/>
          <p:cNvSpPr/>
          <p:nvPr/>
        </p:nvSpPr>
        <p:spPr>
          <a:xfrm>
            <a:off x="507240" y="1353600"/>
            <a:ext cx="20034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Human verification is mandatory.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3" descr="preencoded.png"/>
          <p:cNvPicPr/>
          <p:nvPr/>
        </p:nvPicPr>
        <p:blipFill>
          <a:blip r:embed="rId4"/>
          <a:stretch/>
        </p:blipFill>
        <p:spPr>
          <a:xfrm>
            <a:off x="285840" y="1618200"/>
            <a:ext cx="997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4"/>
          <p:cNvSpPr/>
          <p:nvPr/>
        </p:nvSpPr>
        <p:spPr>
          <a:xfrm>
            <a:off x="492840" y="1596600"/>
            <a:ext cx="28713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No sensitive student data was used in prompts.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4714920" y="846360"/>
            <a:ext cx="41428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ACADEMIC REFERENCES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4714920" y="1325160"/>
            <a:ext cx="4142880" cy="18997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4714920" y="1325160"/>
            <a:ext cx="4142880" cy="18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tIns="169920" rIns="169920" bIns="169920" anchor="t">
            <a:spAutoFit/>
          </a:bodyPr>
          <a:p>
            <a:pPr/>
            <a:r>
              <a:rPr lang="en-US" sz="7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1. AI Tools Documentation: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OpenAI (2024). ChatGPT-4o System Card. </a:t>
            </a:r>
            <a:r>
              <a:rPr lang="en-US" sz="750" b="0" u="none" strike="noStrike">
                <a:solidFill>
                  <a:srgbClr val="19A7CE"/>
                </a:solidFill>
                <a:effectLst/>
                <a:uFillTx/>
                <a:latin typeface="Inter"/>
                <a:ea typeface="Inter"/>
              </a:rPr>
              <a:t>openai.com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Google (2024). Gemini Pro Technical Report. </a:t>
            </a:r>
            <a:r>
              <a:rPr lang="en-US" sz="750" b="0" u="none" strike="noStrike">
                <a:solidFill>
                  <a:srgbClr val="19A7CE"/>
                </a:solidFill>
                <a:effectLst/>
                <a:uFillTx/>
                <a:latin typeface="Inter"/>
                <a:ea typeface="Inter"/>
              </a:rPr>
              <a:t>deepmind.google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lang="en-US" sz="7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2. Institutional Sources: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Institutional website: not supplied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Academic handbook: not supplied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lang="en-US" sz="700" b="1" u="none" strike="noStrike">
                <a:solidFill>
                  <a:srgbClr val="64748B"/>
                </a:solidFill>
                <a:effectLst/>
                <a:uFillTx/>
                <a:latin typeface="Inter Bold"/>
                <a:ea typeface="Inter Bold"/>
              </a:rPr>
              <a:t>3. Methodology:</a:t>
            </a: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Prompt examples are original instructional content for this mini-project.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8"/>
          <p:cNvSpPr/>
          <p:nvPr/>
        </p:nvSpPr>
        <p:spPr>
          <a:xfrm>
            <a:off x="5841720" y="4157640"/>
            <a:ext cx="1889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3402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0B2447"/>
                </a:solidFill>
                <a:effectLst/>
                <a:uFillTx/>
                <a:latin typeface="Inter Bold"/>
                <a:ea typeface="Inter Bold"/>
              </a:rPr>
              <a:t>Thank You!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LibreOffice/26.8.1.1$Windows_X86_64 LibreOffice_project/bf6ef2662401c7d6dce671ab4deb26ee0af3a7c1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2026-10-27T08:18:45Z</dcterms:created>
  <dc:creator>PptxGenJS</dc:creator>
  <dc:description/>
  <dc:language>en-US</dc:language>
  <cp:lastModifiedBy/>
  <dcterms:modified xsi:type="dcterms:W3CDTF">2026-10-29T16:42:01Z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